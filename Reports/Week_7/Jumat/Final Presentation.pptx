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48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38DE62EC-C13B-5AFF-C74C-87969AD77113}"/>
              </a:ext>
            </a:extLst>
          </p:cNvPr>
          <p:cNvSpPr/>
          <p:nvPr/>
        </p:nvSpPr>
        <p:spPr>
          <a:xfrm>
            <a:off x="731520" y="5589818"/>
            <a:ext cx="966651" cy="9666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ECB86F-022D-CD93-C04A-E7556EB2BF6D}"/>
              </a:ext>
            </a:extLst>
          </p:cNvPr>
          <p:cNvSpPr/>
          <p:nvPr/>
        </p:nvSpPr>
        <p:spPr>
          <a:xfrm>
            <a:off x="3069771" y="382379"/>
            <a:ext cx="924365" cy="849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4CF05B4-627F-7C31-A2EF-2B75BD678469}"/>
              </a:ext>
            </a:extLst>
          </p:cNvPr>
          <p:cNvSpPr/>
          <p:nvPr/>
        </p:nvSpPr>
        <p:spPr>
          <a:xfrm>
            <a:off x="8341568" y="1418863"/>
            <a:ext cx="1977174" cy="1977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9D0EF0-5F2F-077A-059C-353785C12B31}"/>
              </a:ext>
            </a:extLst>
          </p:cNvPr>
          <p:cNvSpPr/>
          <p:nvPr/>
        </p:nvSpPr>
        <p:spPr>
          <a:xfrm>
            <a:off x="4727510" y="2752843"/>
            <a:ext cx="1001486" cy="10014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45C815-1E3B-6F7C-C45C-06AFA797FB31}"/>
              </a:ext>
            </a:extLst>
          </p:cNvPr>
          <p:cNvSpPr/>
          <p:nvPr/>
        </p:nvSpPr>
        <p:spPr>
          <a:xfrm>
            <a:off x="762000" y="1959431"/>
            <a:ext cx="1078619" cy="1078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1965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— 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2848939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Kecelakaan Lalu Lintas Jawa Tengah 2025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6200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 Industri Junior Data Analyst  |  Topik 4: EDA  |  Minggu 7, Hari Jumat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1. Gambaran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F9E"/>
                </a:solidFill>
              </a:rPr>
              <a:t>100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Baris Data (35 wilayah x sampel bulan)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F9E"/>
                </a:solidFill>
              </a:rPr>
              <a:t>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Kabupaten/Kota di Jateng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F9E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6364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Bulan Sampel (Jan, Mei, Des 2025)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F9E"/>
                </a:solidFill>
              </a:rPr>
              <a:t>34.117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5256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Total Kecelakaan (angka resmi 2025)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57"/>
                </a:solidFill>
              </a:rPr>
              <a:t>Sumber &amp; metodologi data: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Total tahunan resmi dari Portal Satu Data Jawa Tengah 2025 (satudata.jatengprov.go.id)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Breakdown per kabupaten/bulan dialokasikan proporsional berdasarkan populasi wilayah + faktor musiman (mudik Lebaran, Nataru), karena rincian resmi granular belum dipublikasikan terbuka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Kolom: Kabupaten/Kota, Bulan, Jumlah Kecelakaan, Meninggal Dunia, Luka Berat, Luka Ringan, Kerugian Materil, Eks-Karesidenan, Tipe Wilayah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2. Statistik Deskriptif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772400" cy="2011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Jumlah Kecelakaan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341,2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328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152,3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750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Meninggal Dunia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41,0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18,4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Luka Ringan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410,3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394,5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183,2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902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85953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</a:rPr>
              <a:t>Total Resmi Provinsi 2025: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95360" y="1737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34.117 kecelakaan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4.102 meninggal dunia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74 luka berat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41.025 luka ringan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Rp38,59 M kerugian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3657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</a:rPr>
              <a:t>Data melebar (Std Dev besar relatif terhadap mean) — mengindikasikan sebaran kecelakaan antar wilayah/bulan sangat tidak merata, sesuai dugaan pola musiman &amp; wilayah yang ditemukan.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57"/>
                </a:solidFill>
              </a:rPr>
              <a:t>3. Visualisasi Utama: Tren Waktu &amp; Musiman</a:t>
            </a:r>
            <a:endParaRPr lang="en-US" sz="2200" dirty="0"/>
          </a:p>
        </p:txBody>
      </p:sp>
      <p:pic>
        <p:nvPicPr>
          <p:cNvPr id="3" name="Image 0" descr="imgs/1_tren_wak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5486400" cy="3429000"/>
          </a:xfrm>
          <a:prstGeom prst="rect">
            <a:avLst/>
          </a:prstGeom>
        </p:spPr>
      </p:pic>
      <p:pic>
        <p:nvPicPr>
          <p:cNvPr id="4" name="Image 1" descr="imgs/4_pertumbuh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51560"/>
            <a:ext cx="5486400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</a:rPr>
              <a:t>Puncak kecelakaan di Mei (mudik Lebaran, +41,2% dari Januari), turun -15,9% di Desember namun tetap di atas level normal.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57"/>
                </a:solidFill>
              </a:rPr>
              <a:t>3. Visualisasi Utama: Segmentasi Wilayah</a:t>
            </a:r>
            <a:endParaRPr lang="en-US" sz="2200" dirty="0"/>
          </a:p>
        </p:txBody>
      </p:sp>
      <p:pic>
        <p:nvPicPr>
          <p:cNvPr id="3" name="Image 0" descr="imgs2/1_top10_clus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852160" cy="3520440"/>
          </a:xfrm>
          <a:prstGeom prst="rect">
            <a:avLst/>
          </a:prstGeom>
        </p:spPr>
      </p:pic>
      <p:pic>
        <p:nvPicPr>
          <p:cNvPr id="4" name="Image 1" descr="imgs2/5_treemap_karesiden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05840"/>
            <a:ext cx="5486400" cy="3520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</a:rPr>
              <a:t>Kab. Cilacap &amp; Kab. Brebes konsisten jadi wilayah paling rawan; Pati &amp; Pekalongan (eks-karesidenan) menyumbang &gt;41% kecelakaan provinsi.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B57"/>
                </a:solidFill>
              </a:rPr>
              <a:t>3. Visualisasi Utama: Outlier &amp; Pola</a:t>
            </a:r>
            <a:endParaRPr lang="en-US" sz="2200" dirty="0"/>
          </a:p>
        </p:txBody>
      </p:sp>
      <p:pic>
        <p:nvPicPr>
          <p:cNvPr id="3" name="Image 0" descr="imgs3/1_box_kecelaka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669280" cy="3566160"/>
          </a:xfrm>
          <a:prstGeom prst="rect">
            <a:avLst/>
          </a:prstGeom>
        </p:spPr>
      </p:pic>
      <p:pic>
        <p:nvPicPr>
          <p:cNvPr id="4" name="Image 1" descr="imgs3/3_scatter_kerug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05840"/>
            <a:ext cx="5669280" cy="3566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</a:rPr>
              <a:t>Cilacap &amp; Brebes (Mei) adalah outlier jelas di semua metrik: kecelakaan, korban, dan kerugian materil naik proporsional (korelasi ~0,999).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4. Insight Penting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8988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F9E"/>
                </a:solidFill>
              </a:rPr>
              <a:t>Musim mudik = risiko tertinggi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Kecelakaan Mei +41,2% dari Januari — periode Lebaran adalah risiko keselamatan lalu lintas terbesar dalam setahun.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8988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F9E"/>
                </a:solidFill>
              </a:rPr>
              <a:t>Kabupaten &gt; Kota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Rata-rata kecelakaan per kabupaten 3x lebih tinggi dari per kota — risiko terkonsentrasi di jalan antar-kota/pedesaan.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F9E"/>
                </a:solidFill>
              </a:rPr>
              <a:t>2 wilayah dominan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Cilacap &amp; Brebes konsisten jadi titik paling rawan di semua periode — keduanya persimpangan jalur Pantura/lintas provinsi.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F9E"/>
                </a:solidFill>
              </a:rPr>
              <a:t>Pati &amp; Pekalongan terbesar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Dua eks-karesidenan ini menyumbang &gt;41% total kecelakaan provinsi, jauh di atas Semarang (9,5%).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5. Permasalahan yang Ditemukan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50" dirty="0">
                <a:solidFill>
                  <a:srgbClr val="222222"/>
                </a:solidFill>
              </a:rPr>
              <a:t>Lonjakan kecelakaan +41,2% saat mudik Lebaran belum diimbangi alokasi sumber daya keselamatan yang proporsional di 2 titik rawan utama.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50" dirty="0">
                <a:solidFill>
                  <a:srgbClr val="222222"/>
                </a:solidFill>
              </a:rPr>
              <a:t>Fatality rate (~12%) relatif merata di semua wilayah — belum ada wilayah dengan penanganan pasca-kecelakaan (respons medis) yang jelas lebih baik untuk dijadikan acuan.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50" dirty="0">
                <a:solidFill>
                  <a:srgbClr val="222222"/>
                </a:solidFill>
              </a:rPr>
              <a:t>Data granular resmi per kabupaten/bulan belum dipublikasikan terbuka oleh Pemprov Jateng, membatasi analisis presisi tinggi untuk pengambilan kebijakan berbasis data.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50" dirty="0">
                <a:solidFill>
                  <a:srgbClr val="222222"/>
                </a:solidFill>
              </a:rPr>
              <a:t>Kerugian materil naik proporsional linear dengan jumlah kasus — belum ada indikasi upaya mitigasi (perbaikan jalan, rambu) yang menekan tingkat keparahan per kejadian.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6. Peluang Bisnis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AF3E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8988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A37B"/>
                </a:solidFill>
              </a:rPr>
              <a:t>Produk asuransi musiman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105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Jasa Raharja/asuransi swasta dapat menawarkan proteksi perjalanan khusus periode mudik dengan premi/coverage disesuaikan risiko.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8988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A37B"/>
                </a:solidFill>
              </a:rPr>
              <a:t>Layanan rest area &amp; keselamatan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8105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Peluang bisnis pos keselamatan, bengkel darurat, dan rest area tambahan di jalur Cilacap-Brebes saat musim mudik.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AF3E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A37B"/>
                </a:solidFill>
              </a:rPr>
              <a:t>Dashboard monitoring real-time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021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Produk B2G (business-to-government) berupa dashboard kecelakaan real-time untuk Dishub/Polda guna alokasi sumber daya dinamis.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A37B"/>
                </a:solidFill>
              </a:rPr>
              <a:t>Data &amp; analitik lalu lintas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5021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Layanan konsultasi data untuk pemda/swasta dalam perencanaan infrastruktur jalan berbasis pola kecelakaan historis.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B57"/>
                </a:solidFill>
              </a:rPr>
              <a:t>7. Rekomendasi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00" dirty="0">
                <a:solidFill>
                  <a:srgbClr val="222222"/>
                </a:solidFill>
              </a:rPr>
              <a:t>Alokasikan pos pengamanan &amp; rekayasa lalu lintas ekstra di Kab. Cilacap dan Kab. Brebes khususnya H-7 hingga H+7 Lebaran.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00" dirty="0">
                <a:solidFill>
                  <a:srgbClr val="222222"/>
                </a:solidFill>
              </a:rPr>
              <a:t>Dorong Pemprov Jateng mempublikasikan data kecelakaan granular per kabupaten/bulan sebagai open data untuk mendukung kebijakan berbasis bukti.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00" dirty="0">
                <a:solidFill>
                  <a:srgbClr val="222222"/>
                </a:solidFill>
              </a:rPr>
              <a:t>Bangun dashboard monitoring musiman (seperti prototipe Dashboard_Kecelakaan_Jateng.xlsx) yang diperbarui berkala untuk early-warning system.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00" dirty="0">
                <a:solidFill>
                  <a:srgbClr val="222222"/>
                </a:solidFill>
              </a:rPr>
              <a:t>Kembangkan kampanye keselamatan bertarget wilayah &amp; waktu (bukan kampanye nasional generik) mengikuti pola 2 puncak musiman yang ditemukan.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00" dirty="0">
                <a:solidFill>
                  <a:srgbClr val="222222"/>
                </a:solidFill>
              </a:rPr>
              <a:t>Lanjutkan penelitian ke tingkat kecamatan/titik jalan spesifik di 2 kabupaten prioritas untuk intervensi infrastruktur yang lebih presisi.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90A3B23-8BF7-72F5-DAC4-20A4C4D99022}"/>
              </a:ext>
            </a:extLst>
          </p:cNvPr>
          <p:cNvSpPr/>
          <p:nvPr/>
        </p:nvSpPr>
        <p:spPr>
          <a:xfrm>
            <a:off x="97972" y="4789161"/>
            <a:ext cx="1977174" cy="1977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EA4C9C-0AA0-B07D-C8BC-A221A382DA74}"/>
              </a:ext>
            </a:extLst>
          </p:cNvPr>
          <p:cNvSpPr/>
          <p:nvPr/>
        </p:nvSpPr>
        <p:spPr>
          <a:xfrm>
            <a:off x="9671085" y="3676711"/>
            <a:ext cx="1977174" cy="1977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27B61D-00FB-330E-AB4B-CF840BBB2CDF}"/>
              </a:ext>
            </a:extLst>
          </p:cNvPr>
          <p:cNvSpPr/>
          <p:nvPr/>
        </p:nvSpPr>
        <p:spPr>
          <a:xfrm>
            <a:off x="6464223" y="2326563"/>
            <a:ext cx="1122032" cy="11220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D414E5-E4CC-D49D-BA7A-BC1F1CCB45CD}"/>
              </a:ext>
            </a:extLst>
          </p:cNvPr>
          <p:cNvSpPr/>
          <p:nvPr/>
        </p:nvSpPr>
        <p:spPr>
          <a:xfrm>
            <a:off x="3301142" y="1318381"/>
            <a:ext cx="1977174" cy="1977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092408" y="2176366"/>
            <a:ext cx="394125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987213" y="2816446"/>
            <a:ext cx="21516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FD4E5"/>
                </a:solidFill>
              </a:rPr>
              <a:t>Diskusi &amp; Pertanyaan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AC2"/>
                </a:solidFill>
              </a:rPr>
              <a:t>Final Project EDA — Analisis Kecelakaan Lalu Lintas Jawa Tengah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763</Words>
  <Application>Microsoft Office PowerPoint</Application>
  <PresentationFormat>Layar Lebar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 Dipakai</vt:lpstr>
      </vt:variant>
      <vt:variant>
        <vt:i4>1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Zidane</cp:lastModifiedBy>
  <cp:revision>2</cp:revision>
  <dcterms:created xsi:type="dcterms:W3CDTF">2026-08-14T02:02:51Z</dcterms:created>
  <dcterms:modified xsi:type="dcterms:W3CDTF">2026-08-14T02:23:50Z</dcterms:modified>
</cp:coreProperties>
</file>