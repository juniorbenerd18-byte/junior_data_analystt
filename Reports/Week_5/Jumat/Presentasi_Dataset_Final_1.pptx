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5 Jenis Kejahatan Terbanyak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Jumlah Kasus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2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Fraud</c:v>
                  </c:pt>
                  <c:pt idx="1">
                    <c:v>DUI</c:v>
                  </c:pt>
                  <c:pt idx="2">
                    <c:v>Arson</c:v>
                  </c:pt>
                  <c:pt idx="3">
                    <c:v>Drug Offense</c:v>
                  </c:pt>
                  <c:pt idx="4">
                    <c:v>Theft/Larceny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376</c:v>
                </c:pt>
                <c:pt idx="1">
                  <c:v>353</c:v>
                </c:pt>
                <c:pt idx="2">
                  <c:v>352</c:v>
                </c:pt>
                <c:pt idx="3">
                  <c:v>350</c:v>
                </c:pt>
                <c:pt idx="4">
                  <c:v>339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222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222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AEA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Distribusi Tingkat Keparahan (Severity)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Severity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9A24B"/>
              </a:solidFill>
              <a:effectLst/>
            </c:spPr>
          </c:dPt>
          <c:dPt>
            <c:idx val="1"/>
            <c:bubble3D val="0"/>
            <c:spPr>
              <a:solidFill>
                <a:srgbClr val="C0392B"/>
              </a:solidFill>
              <a:effectLst/>
            </c:spPr>
          </c:dPt>
          <c:dPt>
            <c:idx val="2"/>
            <c:bubble3D val="0"/>
            <c:spPr>
              <a:solidFill>
                <a:srgbClr val="1C7293"/>
              </a:solidFill>
              <a:effectLst/>
            </c:spPr>
          </c:dPt>
          <c:dPt>
            <c:idx val="3"/>
            <c:bubble3D val="0"/>
            <c:spPr>
              <a:solidFill>
                <a:srgbClr val="8FA9DE"/>
              </a:solidFill>
              <a:effectLst/>
            </c:spPr>
          </c:dPt>
          <c:dLbls>
            <c:dLbl>
              <c:idx val="0"/>
              <c:numFmt formatCode="#,##0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#,##0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#,##0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#,##0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Medium</c:v>
                </c:pt>
                <c:pt idx="1">
                  <c:v>Critical</c:v>
                </c:pt>
                <c:pt idx="2">
                  <c:v>Low</c:v>
                </c:pt>
                <c:pt idx="3">
                  <c:v>High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1691</c:v>
                </c:pt>
                <c:pt idx="1">
                  <c:v>1337</c:v>
                </c:pt>
                <c:pt idx="2">
                  <c:v>1032</c:v>
                </c:pt>
                <c:pt idx="3">
                  <c:v>990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22222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Tren Jumlah Kasus per Tahun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Jumlah Kasus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6B728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2018</c:v>
                  </c:pt>
                  <c:pt idx="1">
                    <c:v>2019</c:v>
                  </c:pt>
                  <c:pt idx="2">
                    <c:v>2020</c:v>
                  </c:pt>
                  <c:pt idx="3">
                    <c:v>2021</c:v>
                  </c:pt>
                  <c:pt idx="4">
                    <c:v>2022</c:v>
                  </c:pt>
                  <c:pt idx="5">
                    <c:v>2023</c:v>
                  </c:pt>
                  <c:pt idx="6">
                    <c:v>2024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642</c:v>
                </c:pt>
                <c:pt idx="1">
                  <c:v>685</c:v>
                </c:pt>
                <c:pt idx="2">
                  <c:v>653</c:v>
                </c:pt>
                <c:pt idx="3">
                  <c:v>669</c:v>
                </c:pt>
                <c:pt idx="4">
                  <c:v>700</c:v>
                </c:pt>
                <c:pt idx="5">
                  <c:v>666</c:v>
                </c:pt>
                <c:pt idx="6">
                  <c:v>706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6B7280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222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550"/>
        </c:scaling>
        <c:delete val="0"/>
        <c:axPos val="l"/>
        <c:majorGridlines>
          <c:spPr>
            <a:ln w="12700" cap="flat">
              <a:solidFill>
                <a:srgbClr val="EAEA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2011680"/>
            <a:ext cx="5943600" cy="5943600"/>
          </a:xfrm>
          <a:prstGeom prst="ellipse">
            <a:avLst/>
          </a:prstGeom>
          <a:solidFill>
            <a:srgbClr val="263A82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206240"/>
            <a:ext cx="3840480" cy="3840480"/>
          </a:xfrm>
          <a:prstGeom prst="ellipse">
            <a:avLst/>
          </a:prstGeom>
          <a:solidFill>
            <a:srgbClr val="16204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PROYEK JUNIOR DATA ANALYST  —  EDUSOFT CENTER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Feature Engineering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Menyiapkan Crime &amp; Incident Report Dataset agar Siap Digunakan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oleh Tim Data Analyst Senior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709160"/>
            <a:ext cx="1280160" cy="0"/>
          </a:xfrm>
          <a:prstGeom prst="line">
            <a:avLst/>
          </a:prstGeom>
          <a:noFill/>
          <a:ln w="31750">
            <a:solidFill>
              <a:srgbClr val="C9A2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983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Disusun oleh   :  Junior Alfredo Benerd Setiawan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5303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Diajukan untuk :  Edusoft Center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5623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•  GAMBARAN 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Tentang Dataset yang Dikerjakan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035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berisi catatan insiden kejahatan (crime &amp; incident report) dari beberapa distrik kota, mencakup informasi tanggal kejadian, jenis kejahatan, pihak yang terlibat (tersangka &amp; korban), tingkat keparahan, hingga status penyelesaian kasus.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128016" cy="128016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953512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Cakupan Waktu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Periode 2018 – 2024 (7 tahun data historis)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886200"/>
            <a:ext cx="128016" cy="128016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730752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Cakupan Wilayah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402336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Beberapa distrik: North, South, Central, West, Midtown, dll.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663440"/>
            <a:ext cx="128016" cy="128016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507992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Jenis Informasi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" y="48006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kejahatan, pihak terlibat, kerugian properti, status kasus &amp; resolusi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49440" y="15087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086600" y="167335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5.050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086600" y="235000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Baris (Records)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692640" y="15087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829800" y="167335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829800" y="235000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Awal (Sebelum Diproses)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49440" y="31546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086600" y="331927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086600" y="399592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Tahun Cakupan Data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692640" y="31546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829800" y="331927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6+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9829800" y="399592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 Jenis Kejahatan Utama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Alfredo Benerd Setiawan  •  Edusoft Center  •  Data Cleaning &amp; Feature Engineering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•  PERMASALAHAN DATA YANG DITEMUKAN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Isu Kualitas Data Sebelum Dibersihkan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234440"/>
          </a:xfrm>
          <a:prstGeom prst="roundRect">
            <a:avLst>
              <a:gd name="adj" fmla="val 5185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764792"/>
            <a:ext cx="960120" cy="905256"/>
          </a:xfrm>
          <a:prstGeom prst="roundRect">
            <a:avLst>
              <a:gd name="adj" fmla="val 6061"/>
            </a:avLst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764792"/>
            <a:ext cx="96012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329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1728216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pada incident_datetime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28800" y="2130552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6,5% baris tidak memiliki tanggal kejadian yang tercatat (data hanya mencakup tanggal, tanpa jam).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349240" cy="1234440"/>
          </a:xfrm>
          <a:prstGeom prst="roundRect">
            <a:avLst>
              <a:gd name="adj" fmla="val 5185"/>
            </a:avLst>
          </a:prstGeom>
          <a:solidFill>
            <a:srgbClr val="F4F6FB"/>
          </a:solidFill>
          <a:ln/>
        </p:spPr>
      </p:sp>
      <p:sp>
        <p:nvSpPr>
          <p:cNvPr id="10" name="Shape 8"/>
          <p:cNvSpPr/>
          <p:nvPr/>
        </p:nvSpPr>
        <p:spPr>
          <a:xfrm>
            <a:off x="6336792" y="1764792"/>
            <a:ext cx="960120" cy="905256"/>
          </a:xfrm>
          <a:prstGeom prst="roundRect">
            <a:avLst>
              <a:gd name="adj" fmla="val 6061"/>
            </a:avLst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6336792" y="1764792"/>
            <a:ext cx="96012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452360" y="1728216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pada badge_number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452360" y="2130552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5,9% baris tidak memiliki nomor badge petugas yang menangani kasus.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5349240" cy="1234440"/>
          </a:xfrm>
          <a:prstGeom prst="roundRect">
            <a:avLst>
              <a:gd name="adj" fmla="val 5185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" y="3227832"/>
            <a:ext cx="960120" cy="905256"/>
          </a:xfrm>
          <a:prstGeom prst="roundRect">
            <a:avLst>
              <a:gd name="adj" fmla="val 6061"/>
            </a:avLst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3227832"/>
            <a:ext cx="96012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Bahasa Campuran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828800" y="3191256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Ketidakkonsistenan pada kolom resolution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828800" y="3593592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Ditemukan campuran istilah Indonesia &amp; Inggris, contoh: "Belum Ada Resolusi".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3063240"/>
            <a:ext cx="5349240" cy="1234440"/>
          </a:xfrm>
          <a:prstGeom prst="roundRect">
            <a:avLst>
              <a:gd name="adj" fmla="val 5185"/>
            </a:avLst>
          </a:prstGeom>
          <a:solidFill>
            <a:srgbClr val="F4F6FB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3227832"/>
            <a:ext cx="960120" cy="905256"/>
          </a:xfrm>
          <a:prstGeom prst="roundRect">
            <a:avLst>
              <a:gd name="adj" fmla="val 6061"/>
            </a:avLst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6336792" y="3227832"/>
            <a:ext cx="96012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 Tidak Seragam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52360" y="3191256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Nomor telepon korban &amp; teks kategorikal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52360" y="3593592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nomor telepon bervariasi; teks kategorikal memiliki spasi berlebih &amp; kapitalisasi tidak konsisten.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Alfredo Benerd Setiawan  •  Edusoft Center  •  Data Cleaning &amp; Feature Engineering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•  LANGKAH-LANGKAH CLEANING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Proses Pembersihan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148840" cy="3246120"/>
          </a:xfrm>
          <a:prstGeom prst="roundRect">
            <a:avLst>
              <a:gd name="adj" fmla="val 2979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30452" y="1581912"/>
            <a:ext cx="585216" cy="585216"/>
          </a:xfrm>
          <a:prstGeom prst="ellipse">
            <a:avLst/>
          </a:prstGeom>
          <a:solidFill>
            <a:srgbClr val="1C7293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30452" y="15819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13232" y="2331720"/>
            <a:ext cx="18196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Konversi Tipe Data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3017520"/>
            <a:ext cx="181965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incident_datetime (berisi tanggal kejadian, tanpa jam) dikonversi dari teks ke format tanggal standar; nilai kosong dibiarkan sebagai missing agar tidak menimbulkan bias.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651760" y="17647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880360" y="1874520"/>
            <a:ext cx="2148840" cy="324612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62172" y="1581912"/>
            <a:ext cx="585216" cy="585216"/>
          </a:xfrm>
          <a:prstGeom prst="ellipse">
            <a:avLst/>
          </a:prstGeom>
          <a:solidFill>
            <a:srgbClr val="1C7293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62172" y="15819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044952" y="2331720"/>
            <a:ext cx="18196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Tangani Missing Values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44952" y="3017520"/>
            <a:ext cx="181965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badge_number kosong diisi 0, ditambah kolom penanda badge_number_diketahui agar jejak data tetap terekam.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83480" y="17647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212080" y="1874520"/>
            <a:ext cx="2148840" cy="3246120"/>
          </a:xfrm>
          <a:prstGeom prst="roundRect">
            <a:avLst>
              <a:gd name="adj" fmla="val 2979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93892" y="1581912"/>
            <a:ext cx="585216" cy="585216"/>
          </a:xfrm>
          <a:prstGeom prst="ellipse">
            <a:avLst/>
          </a:prstGeom>
          <a:solidFill>
            <a:srgbClr val="1C7293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93892" y="15819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76672" y="2331720"/>
            <a:ext cx="18196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Standardisasi Kategori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76672" y="3017520"/>
            <a:ext cx="181965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Menyeragamkan istilah campuran bahasa pada kolom resolution ke satu bahasa yang konsisten.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315200" y="17647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543800" y="1874520"/>
            <a:ext cx="2148840" cy="324612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25612" y="1581912"/>
            <a:ext cx="585216" cy="585216"/>
          </a:xfrm>
          <a:prstGeom prst="ellipse">
            <a:avLst/>
          </a:prstGeom>
          <a:solidFill>
            <a:srgbClr val="1C7293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5612" y="15819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708392" y="2331720"/>
            <a:ext cx="18196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Rapikan Format Teks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08392" y="3017520"/>
            <a:ext cx="181965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Nomor telepon distandardisasi ke digit saja; teks kategorikal dirapikan dari spasi berlebih &amp; kapitalisasi.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646920" y="17647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875520" y="1874520"/>
            <a:ext cx="2148840" cy="3246120"/>
          </a:xfrm>
          <a:prstGeom prst="roundRect">
            <a:avLst>
              <a:gd name="adj" fmla="val 2979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657332" y="1581912"/>
            <a:ext cx="585216" cy="585216"/>
          </a:xfrm>
          <a:prstGeom prst="ellipse">
            <a:avLst/>
          </a:prstGeom>
          <a:solidFill>
            <a:srgbClr val="1C7293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657332" y="15819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0040112" y="2331720"/>
            <a:ext cx="18196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 &amp; Hapus Duplikat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040112" y="3017520"/>
            <a:ext cx="181965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Pengecekan baris duplikat penuh pada seluruh kolom untuk memastikan tidak ada data ganda.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Alfredo Benerd Setiawan  •  Edusoft Center  •  Data Cleaning &amp; Feature Engineering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•  PERUBAHAN YANG DILAKUKAN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Sebelum vs Sesudah Data Cleaning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743200" cy="566928"/>
          </a:xfrm>
          <a:prstGeom prst="rect">
            <a:avLst/>
          </a:prstGeom>
          <a:solidFill>
            <a:srgbClr val="1E2761"/>
          </a:solidFill>
          <a:ln w="9525">
            <a:solidFill>
              <a:srgbClr val="E3E7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0020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Aspek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91840" y="1600200"/>
            <a:ext cx="4160520" cy="566928"/>
          </a:xfrm>
          <a:prstGeom prst="rect">
            <a:avLst/>
          </a:prstGeom>
          <a:solidFill>
            <a:srgbClr val="1E2761"/>
          </a:solidFill>
          <a:ln w="9525">
            <a:solidFill>
              <a:srgbClr val="E3E7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29000" y="1600200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Sebelum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452360" y="1600200"/>
            <a:ext cx="4160520" cy="566928"/>
          </a:xfrm>
          <a:prstGeom prst="rect">
            <a:avLst/>
          </a:prstGeom>
          <a:solidFill>
            <a:srgbClr val="1E2761"/>
          </a:solidFill>
          <a:ln w="9525">
            <a:solidFill>
              <a:srgbClr val="E3E7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0" y="1600200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Sesudah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167128"/>
            <a:ext cx="2743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16712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incident_datetime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91840" y="2167128"/>
            <a:ext cx="4160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2167128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329 baris kosong, tipe data teks bebas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452360" y="2167128"/>
            <a:ext cx="4160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0" y="2167128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5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Dikonversi ke format tanggal (date) standar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2734056"/>
            <a:ext cx="2743200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E3E7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73405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badge_number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91840" y="2734056"/>
            <a:ext cx="4160520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E3E7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2734056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301 baris kosong tanpa penanda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452360" y="2734056"/>
            <a:ext cx="4160520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E3E7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0" y="2734056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5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Diisi 0 + kolom penanda badge_number_diketahui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3300984"/>
            <a:ext cx="2743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300984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91840" y="3300984"/>
            <a:ext cx="4160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29000" y="3300984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Campuran bahasa ID &amp; EN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452360" y="3300984"/>
            <a:ext cx="4160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0" y="3300984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5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Konsisten satu bahasa (Inggris)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3867912"/>
            <a:ext cx="2743200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E3E7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86791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victim_phone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291840" y="3867912"/>
            <a:ext cx="4160520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E3E7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29000" y="3867912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tidak seragam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452360" y="3867912"/>
            <a:ext cx="4160520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E3E7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89520" y="3867912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5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digit standar tanpa simbol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4434840"/>
            <a:ext cx="2743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443484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kategorikal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291840" y="4434840"/>
            <a:ext cx="4160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29000" y="4434840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Spasi berlebih, huruf tidak konsisten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7452360" y="4434840"/>
            <a:ext cx="4160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89520" y="4434840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5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 &amp; konsisten (title case)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48640" y="5001768"/>
            <a:ext cx="2743200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E3E7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" y="500176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 duplikat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3291840" y="5001768"/>
            <a:ext cx="4160520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E3E7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29000" y="5001768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Belum dicek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7452360" y="5001768"/>
            <a:ext cx="4160520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E3E7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89520" y="5001768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5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Dicek — dipastikan tidak ada duplikat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Alfredo Benerd Setiawan  •  Edusoft Center  •  Data Cleaning &amp; Feature Engineering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•  FEATURE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Kolom Baru untuk Memperkaya Analisis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2004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Baru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749040" y="1508760"/>
            <a:ext cx="356616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3886200" y="1508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/ Logika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0" y="1508760"/>
            <a:ext cx="338328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7452360" y="1508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yang Diperoleh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1965960"/>
            <a:ext cx="3200400" cy="585216"/>
          </a:xfrm>
          <a:prstGeom prst="rect">
            <a:avLst/>
          </a:prstGeom>
          <a:solidFill>
            <a:srgbClr val="F4F6FB"/>
          </a:solidFill>
          <a:ln w="9525">
            <a:solidFill>
              <a:srgbClr val="E3E7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965960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tahun_kejadian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749040" y="1965960"/>
            <a:ext cx="3566160" cy="585216"/>
          </a:xfrm>
          <a:prstGeom prst="rect">
            <a:avLst/>
          </a:prstGeom>
          <a:solidFill>
            <a:srgbClr val="F4F6FB"/>
          </a:solidFill>
          <a:ln w="9525">
            <a:solidFill>
              <a:srgbClr val="E3E7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86200" y="1965960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Year(incident_datetime)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0" y="1965960"/>
            <a:ext cx="3383280" cy="585216"/>
          </a:xfrm>
          <a:prstGeom prst="rect">
            <a:avLst/>
          </a:prstGeom>
          <a:solidFill>
            <a:srgbClr val="F4F6FB"/>
          </a:solidFill>
          <a:ln w="9525">
            <a:solidFill>
              <a:srgbClr val="E3E7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52360" y="1965960"/>
            <a:ext cx="310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Melihat tren kasus per tahun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551176"/>
            <a:ext cx="320040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E3E7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551176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bulan_kejadian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749040" y="2551176"/>
            <a:ext cx="356616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E3E7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86200" y="2551176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Month(incident_datetime)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0" y="2551176"/>
            <a:ext cx="338328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E3E7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52360" y="2551176"/>
            <a:ext cx="310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 musiman kejahatan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3136392"/>
            <a:ext cx="3200400" cy="585216"/>
          </a:xfrm>
          <a:prstGeom prst="rect">
            <a:avLst/>
          </a:prstGeom>
          <a:solidFill>
            <a:srgbClr val="F4F6FB"/>
          </a:solidFill>
          <a:ln w="9525">
            <a:solidFill>
              <a:srgbClr val="E3E7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136392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akhir_pekan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749040" y="3136392"/>
            <a:ext cx="3566160" cy="585216"/>
          </a:xfrm>
          <a:prstGeom prst="rect">
            <a:avLst/>
          </a:prstGeom>
          <a:solidFill>
            <a:srgbClr val="F4F6FB"/>
          </a:solidFill>
          <a:ln w="9525">
            <a:solidFill>
              <a:srgbClr val="E3E7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86200" y="3136392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Sabtu / Minggu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315200" y="3136392"/>
            <a:ext cx="3383280" cy="585216"/>
          </a:xfrm>
          <a:prstGeom prst="rect">
            <a:avLst/>
          </a:prstGeom>
          <a:solidFill>
            <a:srgbClr val="F4F6FB"/>
          </a:solidFill>
          <a:ln w="9525">
            <a:solidFill>
              <a:srgbClr val="E3E7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52360" y="3136392"/>
            <a:ext cx="310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vs weekend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3721608"/>
            <a:ext cx="320040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E3E7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721608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selisih_usia_tersangka_korban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749040" y="3721608"/>
            <a:ext cx="356616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E3E7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86200" y="3721608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abs(suspect_age − victim_age)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315200" y="3721608"/>
            <a:ext cx="338328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E3E7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52360" y="3721608"/>
            <a:ext cx="310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relasi tersangka-korban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4306824"/>
            <a:ext cx="3200400" cy="585216"/>
          </a:xfrm>
          <a:prstGeom prst="rect">
            <a:avLst/>
          </a:prstGeom>
          <a:solidFill>
            <a:srgbClr val="F4F6FB"/>
          </a:solidFill>
          <a:ln w="9525">
            <a:solidFill>
              <a:srgbClr val="E3E7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4306824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skor_keparahan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749040" y="4306824"/>
            <a:ext cx="3566160" cy="585216"/>
          </a:xfrm>
          <a:prstGeom prst="rect">
            <a:avLst/>
          </a:prstGeom>
          <a:solidFill>
            <a:srgbClr val="F4F6FB"/>
          </a:solidFill>
          <a:ln w="9525">
            <a:solidFill>
              <a:srgbClr val="E3E7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86200" y="4306824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severity → 1–4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315200" y="4306824"/>
            <a:ext cx="3383280" cy="585216"/>
          </a:xfrm>
          <a:prstGeom prst="rect">
            <a:avLst/>
          </a:prstGeom>
          <a:solidFill>
            <a:srgbClr val="F4F6FB"/>
          </a:solidFill>
          <a:ln w="9525">
            <a:solidFill>
              <a:srgbClr val="E3E7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52360" y="4306824"/>
            <a:ext cx="310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Skala numerik untuk analisis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48640" y="4892040"/>
            <a:ext cx="320040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E3E7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" y="4892040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kerugian_per_penangkapan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749040" y="4892040"/>
            <a:ext cx="356616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E3E7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86200" y="4892040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property_loss_usd / (num_arrests+1)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315200" y="4892040"/>
            <a:ext cx="338328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E3E7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52360" y="4892040"/>
            <a:ext cx="310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Efisiensi penegakan hukum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48640" y="5477256"/>
            <a:ext cx="3200400" cy="585216"/>
          </a:xfrm>
          <a:prstGeom prst="rect">
            <a:avLst/>
          </a:prstGeom>
          <a:solidFill>
            <a:srgbClr val="F4F6FB"/>
          </a:solidFill>
          <a:ln w="9525">
            <a:solidFill>
              <a:srgbClr val="E3E7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5800" y="5477256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badge_number_diketahui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3749040" y="5477256"/>
            <a:ext cx="3566160" cy="585216"/>
          </a:xfrm>
          <a:prstGeom prst="rect">
            <a:avLst/>
          </a:prstGeom>
          <a:solidFill>
            <a:srgbClr val="F4F6FB"/>
          </a:solidFill>
          <a:ln w="9525">
            <a:solidFill>
              <a:srgbClr val="E3E7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86200" y="5477256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flag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7315200" y="5477256"/>
            <a:ext cx="3383280" cy="585216"/>
          </a:xfrm>
          <a:prstGeom prst="rect">
            <a:avLst/>
          </a:prstGeom>
          <a:solidFill>
            <a:srgbClr val="F4F6FB"/>
          </a:solidFill>
          <a:ln w="9525">
            <a:solidFill>
              <a:srgbClr val="E3E7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452360" y="5477256"/>
            <a:ext cx="310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Jejak data yang hilang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Alfredo Benerd Setiawan  •  Edusoft Center  •  Data Cleaning &amp; Feature Engineering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263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•  DATASET FINAL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Siap Digunakan Tim Analyst Senior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246120" cy="1554480"/>
          </a:xfrm>
          <a:prstGeom prst="roundRect">
            <a:avLst>
              <a:gd name="adj" fmla="val 5294"/>
            </a:avLst>
          </a:prstGeom>
          <a:solidFill>
            <a:srgbClr val="273B8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30552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5.050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Baris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0" y="1965960"/>
            <a:ext cx="3246120" cy="1554480"/>
          </a:xfrm>
          <a:prstGeom prst="roundRect">
            <a:avLst>
              <a:gd name="adj" fmla="val 5294"/>
            </a:avLst>
          </a:prstGeom>
          <a:solidFill>
            <a:srgbClr val="273B84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2130552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297680" y="29260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Kolom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680960" y="1965960"/>
            <a:ext cx="3246120" cy="1554480"/>
          </a:xfrm>
          <a:prstGeom prst="roundRect">
            <a:avLst>
              <a:gd name="adj" fmla="val 5294"/>
            </a:avLst>
          </a:prstGeom>
          <a:solidFill>
            <a:srgbClr val="273B84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0" y="2130552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7863840" y="29260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Fitur Baru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3246120" cy="1554480"/>
          </a:xfrm>
          <a:prstGeom prst="roundRect">
            <a:avLst>
              <a:gd name="adj" fmla="val 5294"/>
            </a:avLst>
          </a:prstGeom>
          <a:solidFill>
            <a:srgbClr val="273B84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005072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731520" y="48006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 Duplikat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0" y="3840480"/>
            <a:ext cx="3246120" cy="1554480"/>
          </a:xfrm>
          <a:prstGeom prst="roundRect">
            <a:avLst>
              <a:gd name="adj" fmla="val 5294"/>
            </a:avLst>
          </a:prstGeom>
          <a:solidFill>
            <a:srgbClr val="273B84"/>
          </a:solidFill>
          <a:ln/>
        </p:spPr>
      </p:sp>
      <p:sp>
        <p:nvSpPr>
          <p:cNvPr id="18" name="Text 16"/>
          <p:cNvSpPr/>
          <p:nvPr/>
        </p:nvSpPr>
        <p:spPr>
          <a:xfrm>
            <a:off x="4297680" y="4005072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4297680" y="48006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Tanpa Penanda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680960" y="3840480"/>
            <a:ext cx="3246120" cy="1554480"/>
          </a:xfrm>
          <a:prstGeom prst="roundRect">
            <a:avLst>
              <a:gd name="adj" fmla="val 5294"/>
            </a:avLst>
          </a:prstGeom>
          <a:solidFill>
            <a:srgbClr val="273B84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0" y="4005072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7863840" y="48006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Konsisten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263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output: Final_Clean_Dataset.csv  —  didokumentasikan lengkap pada Feature Engineering Documentation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•  INSIGHT AWAL SETELAH CLEANING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Pola Jenis Kejahatan &amp; Tingkat Keparahan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55778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309360" y="1554480"/>
          <a:ext cx="539496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Alfredo Benerd Setiawan  •  Edusoft Center  •  Data Cleaning &amp; Feature Engineering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•  INSIGHT AWAL SETELAH CLEANING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 Tahunan &amp; Pola Kejadian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66751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52360" y="1554480"/>
            <a:ext cx="4251960" cy="1143000"/>
          </a:xfrm>
          <a:prstGeom prst="roundRect">
            <a:avLst>
              <a:gd name="adj" fmla="val 6400"/>
            </a:avLst>
          </a:prstGeom>
          <a:solidFill>
            <a:srgbClr val="F4F6FB"/>
          </a:solidFill>
          <a:ln/>
        </p:spPr>
      </p:sp>
      <p:sp>
        <p:nvSpPr>
          <p:cNvPr id="6" name="Text 3"/>
          <p:cNvSpPr/>
          <p:nvPr/>
        </p:nvSpPr>
        <p:spPr>
          <a:xfrm>
            <a:off x="7635240" y="1664208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73%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9144000" y="1664208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Kejadian di hari kerja (weekday)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452360" y="2926080"/>
            <a:ext cx="4251960" cy="1143000"/>
          </a:xfrm>
          <a:prstGeom prst="roundRect">
            <a:avLst>
              <a:gd name="adj" fmla="val 6400"/>
            </a:avLst>
          </a:prstGeom>
          <a:solidFill>
            <a:srgbClr val="F4F6FB"/>
          </a:solidFill>
          <a:ln/>
        </p:spPr>
      </p:sp>
      <p:sp>
        <p:nvSpPr>
          <p:cNvPr id="9" name="Text 6"/>
          <p:cNvSpPr/>
          <p:nvPr/>
        </p:nvSpPr>
        <p:spPr>
          <a:xfrm>
            <a:off x="7635240" y="3035808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27%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9144000" y="3035808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Kejadian di akhir pekan (weekend)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452360" y="4297680"/>
            <a:ext cx="4251960" cy="1143000"/>
          </a:xfrm>
          <a:prstGeom prst="roundRect">
            <a:avLst>
              <a:gd name="adj" fmla="val 6400"/>
            </a:avLst>
          </a:prstGeom>
          <a:solidFill>
            <a:srgbClr val="F4F6FB"/>
          </a:solidFill>
          <a:ln/>
        </p:spPr>
      </p:sp>
      <p:sp>
        <p:nvSpPr>
          <p:cNvPr id="12" name="Text 9"/>
          <p:cNvSpPr/>
          <p:nvPr/>
        </p:nvSpPr>
        <p:spPr>
          <a:xfrm>
            <a:off x="7635240" y="4407408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9144000" y="4407408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selisih usia tersangka &amp; korban (tahun)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Alfredo Benerd Setiawan  •  Edusoft Center  •  Data Cleaning &amp; Feature Engineering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263A82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463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 &amp; LANGKAH SELANJUTNYA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Siap Diserahkan ke Tim Senior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980944"/>
            <a:ext cx="109728" cy="10972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7889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isu kualitas data (missing value, format tidak konsisten, bahasa campuran) telah ditangani secara terdokumentasi.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3666744"/>
            <a:ext cx="109728" cy="10972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34747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kolom fitur baru menambah nilai analitis dataset untuk kebutuhan EDA maupun pemodelan lanjutan.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4352544"/>
            <a:ext cx="109728" cy="10972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41605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awal menunjukkan pola menarik pada jenis kejahatan, tingkat keparahan, dan tren waktu — siap dieksplorasi lebih dalam oleh tim senior.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55778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Terima kasih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60807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Alfredo Benerd Setiawan  •  Edusoft Center  •  Juli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2026-07-31T05:30:38Z</dcterms:created>
  <dcterms:modified xsi:type="dcterms:W3CDTF">2026-07-31T05:30:38Z</dcterms:modified>
</cp:coreProperties>
</file>